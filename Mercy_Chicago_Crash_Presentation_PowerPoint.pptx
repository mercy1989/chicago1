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Traffic Crash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581912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Contributory Cause Classifier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8046720" cy="411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7860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for the Chicago Vehicle Safety 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074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   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May 2026     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Chicago Open Data Portal (2015–2024)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115568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106070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" y="14813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783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research questions driving the analysis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1115568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18888" y="106070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18888" y="14813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783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across crashes, vehicles &amp; people — 9 chart types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4114800" cy="1115568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32257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" y="2743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044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column &amp; row reduction with visuals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267712"/>
            <a:ext cx="4114800" cy="1115568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18888" y="232257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18888" y="2743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3044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→ Decision Tree → Random Forest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4114800" cy="1115568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358444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" y="40050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4306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scores, feature importances, confusion matrix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529584"/>
            <a:ext cx="4114800" cy="1115568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18888" y="358444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18888" y="40050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4306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actions tied to model evidence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20624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5097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Stakeholder: Chicago Vehicle Safety Board — policy, infrastructure &amp; driver-education decisions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66928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916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7818120" cy="987552"/>
          </a:xfrm>
          <a:prstGeom prst="rect">
            <a:avLst/>
          </a:prstGeom>
          <a:solidFill>
            <a:srgbClr val="F0F4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5361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most frequent and preventable primary causes of traffic crashes in Chicago?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20299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Rank interventions by impact — dominant causes are Failure to Yield, Following Too Closely, Improper Overtaking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566928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8072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05840" y="2578608"/>
            <a:ext cx="7818120" cy="987552"/>
          </a:xfrm>
          <a:prstGeom prst="rect">
            <a:avLst/>
          </a:prstGeom>
          <a:solidFill>
            <a:srgbClr val="F0F4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road, vehicle, and driver characteristics best predict the primary crash cause?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43000" y="314553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 features: traffic control device condition, speed limit, road defect, driver age, crash hour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94176"/>
            <a:ext cx="566928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92277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05840" y="3694176"/>
            <a:ext cx="7818120" cy="987552"/>
          </a:xfrm>
          <a:prstGeom prst="rect">
            <a:avLst/>
          </a:prstGeom>
          <a:solidFill>
            <a:srgbClr val="F0F4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37673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 reliably predict crash cause in real time — and where are its limits?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26110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Random Forest Macro F1 = 0.177 on test set; suitable for risk-scoring, not legal attribution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prim_contributory_cause | 11 classes (top 10 + OTHER) | 149,704 rows | Metric: Macro F1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Three Linked Tables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70432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164592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069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426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85ca-t3if   149,704 rows used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60520" y="10972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surface · Weather · Lighting · Speed limit · Device condition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60520" y="166420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Join key: crash_record_id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1170432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04288"/>
            <a:ext cx="164592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682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68nd-jvt3   Aggregated to crash level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60520" y="23957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· Defects · Direction of travel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60520" y="2962656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vehicle_type (mode) + num_vehicles (count) per crash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8412480" cy="1170432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02736"/>
            <a:ext cx="164592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66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" y="4023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u6pd-qa9d   Aggregated to crash level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60520" y="369417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age · Sex · Injury severity · Driver action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60520" y="426110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driver_age (median) + pct_male (proportion) per crash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All tables loaded in full before any cleaning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Raw Missing Values by Column</a:t>
            </a:r>
            <a:endParaRPr lang="en-US" sz="2800" dirty="0"/>
          </a:p>
        </p:txBody>
      </p:sp>
      <p:pic>
        <p:nvPicPr>
          <p:cNvPr id="3" name="Image 0" descr="/home/claude/charts/01_missing_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8321040" cy="3767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11 columns exceed 40% missing threshold (amber) | all data loaded before chart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Raw Causes &amp; Binned Target (Q1 Answer)</a:t>
            </a:r>
            <a:endParaRPr lang="en-US" sz="2800" dirty="0"/>
          </a:p>
        </p:txBody>
      </p:sp>
      <p:pic>
        <p:nvPicPr>
          <p:cNvPr id="3" name="Image 0" descr="/home/claude/charts/02_target_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206240" cy="4069080"/>
          </a:xfrm>
          <a:prstGeom prst="rect">
            <a:avLst/>
          </a:prstGeom>
        </p:spPr>
      </p:pic>
      <p:pic>
        <p:nvPicPr>
          <p:cNvPr id="4" name="Image 1" descr="/home/claude/charts/12_target_bin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06240" cy="4069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Left: all raw 40+ causes | Right: binned top 10 + OTHER = 11 classes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Temporal Patterns: Crash Hour &amp; Day of Week</a:t>
            </a:r>
            <a:endParaRPr lang="en-US" sz="2800" dirty="0"/>
          </a:p>
        </p:txBody>
      </p:sp>
      <p:pic>
        <p:nvPicPr>
          <p:cNvPr id="3" name="Image 0" descr="/home/claude/charts/03_crash_h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8412480" cy="2011680"/>
          </a:xfrm>
          <a:prstGeom prst="rect">
            <a:avLst/>
          </a:prstGeom>
        </p:spPr>
      </p:pic>
      <p:pic>
        <p:nvPicPr>
          <p:cNvPr id="4" name="Image 1" descr="/home/claude/charts/04_crash_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99232"/>
            <a:ext cx="8412480" cy="1965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Peak hour pinned to 17:00 (rush hour); peak day = Friday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Environmental Conditions</a:t>
            </a:r>
            <a:endParaRPr lang="en-US" sz="2800" dirty="0"/>
          </a:p>
        </p:txBody>
      </p:sp>
      <p:pic>
        <p:nvPicPr>
          <p:cNvPr id="3" name="Image 0" descr="/home/claude/charts/05_w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297680" cy="1920240"/>
          </a:xfrm>
          <a:prstGeom prst="rect">
            <a:avLst/>
          </a:prstGeom>
        </p:spPr>
      </p:pic>
      <p:pic>
        <p:nvPicPr>
          <p:cNvPr id="4" name="Image 1" descr="/home/claude/charts/06_road_sur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914400"/>
            <a:ext cx="3977640" cy="1920240"/>
          </a:xfrm>
          <a:prstGeom prst="rect">
            <a:avLst/>
          </a:prstGeom>
        </p:spPr>
      </p:pic>
      <p:pic>
        <p:nvPicPr>
          <p:cNvPr id="5" name="Image 2" descr="/home/claude/charts/09_light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07792"/>
            <a:ext cx="8412480" cy="20574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68% of crashes on dry roads; majority in daylight hours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Speed Limit &amp; Driver Age Distributions</a:t>
            </a:r>
            <a:endParaRPr lang="en-US" sz="2800" dirty="0"/>
          </a:p>
        </p:txBody>
      </p:sp>
      <p:pic>
        <p:nvPicPr>
          <p:cNvPr id="3" name="Image 0" descr="/home/claude/charts/07_speed_li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8412480" cy="1965960"/>
          </a:xfrm>
          <a:prstGeom prst="rect">
            <a:avLst/>
          </a:prstGeom>
        </p:spPr>
      </p:pic>
      <p:pic>
        <p:nvPicPr>
          <p:cNvPr id="4" name="Image 1" descr="/home/claude/charts/08_driver_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44368"/>
            <a:ext cx="8412480" cy="2011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Speed median 30 mph; driver age peaks 25–44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6 Steps Applied After Full EDA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987552"/>
            <a:ext cx="2706624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" y="987552"/>
            <a:ext cx="270662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20624" y="1024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Standardise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912" y="1426464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whitespace, uppercase all categoricals — eliminates 'Dry ' vs 'DRY' duplicates. No rows removed.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987552"/>
            <a:ext cx="2706624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87552"/>
            <a:ext cx="270662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319272" y="1024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37560" y="1426464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crash_record_id rows removed — created by multi-agency reporting overlap.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44768" y="987552"/>
            <a:ext cx="2706624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44768" y="987552"/>
            <a:ext cx="270662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024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High-Miss Cols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(&gt;40% null)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36208" y="1426464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columns dropped: location, photos_taken_i, work_zone_* etc — too sparse to impute reliably.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999232"/>
            <a:ext cx="2706624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999232"/>
            <a:ext cx="270662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Leakage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3438144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Post-crash outcome fields removed: injuries_total, damage ($), sec_contributory_cause.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2999232"/>
            <a:ext cx="2706624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999232"/>
            <a:ext cx="270662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319272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Outliers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438144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outside 5–80 mph removed — confirmed sensor/data-entry errors.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44768" y="2999232"/>
            <a:ext cx="2706624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2999232"/>
            <a:ext cx="270662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Null-Target &amp; Impute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3438144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Null-target rows dropped. Remaining nulls: median (numeric), mode (categorical).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Final dataset: 149,704 rows × 16 features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— Before/After Column &amp; Row Count</a:t>
            </a:r>
            <a:endParaRPr lang="en-US" sz="2800" dirty="0"/>
          </a:p>
        </p:txBody>
      </p:sp>
      <p:pic>
        <p:nvPicPr>
          <p:cNvPr id="3" name="Image 0" descr="/home/claude/charts/10_cleaning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8412480" cy="2103120"/>
          </a:xfrm>
          <a:prstGeom prst="rect">
            <a:avLst/>
          </a:prstGeom>
        </p:spPr>
      </p:pic>
      <p:pic>
        <p:nvPicPr>
          <p:cNvPr id="4" name="Image 1" descr="/home/claude/charts/11_missing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063240"/>
            <a:ext cx="8412480" cy="1920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Top: columns &amp; rows before/after | Bottom: residual missing after imputation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Iterative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194560" y="2468880"/>
            <a:ext cx="38404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407408" y="2468880"/>
            <a:ext cx="38404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620256" y="2468880"/>
            <a:ext cx="38404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005840"/>
            <a:ext cx="1938528" cy="352044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115568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" y="1993392"/>
            <a:ext cx="17190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 · bin 40+ causes → 11 classes · deep_clean() · 80/20 stratified split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96896" y="1005840"/>
            <a:ext cx="1938528" cy="352044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88336" y="1115568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06624" y="1993392"/>
            <a:ext cx="17190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StandardScaler · lbfgs solver · class_weight=balanced · max_iter=2000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9744" y="1005840"/>
            <a:ext cx="1938528" cy="352044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01184" y="1115568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1993392"/>
            <a:ext cx="17190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(overfits) then GridSearchCV: max_depth, min_samples_split, min_samples_leaf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22592" y="1005840"/>
            <a:ext cx="1938528" cy="3520440"/>
          </a:xfrm>
          <a:prstGeom prst="rect">
            <a:avLst/>
          </a:prstGeom>
          <a:solidFill>
            <a:srgbClr val="243B6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14032" y="1115568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1993392"/>
            <a:ext cx="17190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· n_jobs=1 · GridSearchCV: n_estimators, max_depth, max_features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deep_clean() applied before every .fit() and .predict() call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Answer — Feature Importances (Random Forest)</a:t>
            </a:r>
            <a:endParaRPr lang="en-US" sz="2800" dirty="0"/>
          </a:p>
        </p:txBody>
      </p:sp>
      <p:pic>
        <p:nvPicPr>
          <p:cNvPr id="3" name="Image 0" descr="/home/claude/charts/13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6217920" cy="4069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914400"/>
            <a:ext cx="2103120" cy="4069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784848" y="98755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68896" y="9875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traffic_control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168896" y="13533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state at crash site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84848" y="175564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68896" y="17556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device_condition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68896" y="2121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vs degraded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84848" y="252374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68896" y="25237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road_defect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168896" y="28895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irregularity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84848" y="329184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68896" y="3291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posted_speed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68896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environment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784848" y="405993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68896" y="4059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crash_hour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168896" y="44256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 peak dominates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Gini importance from best_rf (max_depth=15, sqrt features, 200 trees)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Answer — Model Comparison (Actual Scores)</a:t>
            </a:r>
            <a:endParaRPr lang="en-US" sz="2800" dirty="0"/>
          </a:p>
        </p:txBody>
      </p:sp>
      <p:pic>
        <p:nvPicPr>
          <p:cNvPr id="3" name="Image 0" descr="/home/claude/charts/15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852160" cy="278892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03320"/>
          <a:ext cx="5852160" cy="1078992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  <a:gridCol w="1463040"/>
              </a:tblGrid>
              <a:tr h="2157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57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Underfitting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157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(default)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Severe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157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(tuned)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157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— Best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00800" y="914400"/>
            <a:ext cx="2423160" cy="404164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510528" y="100584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✓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510528" y="1417320"/>
            <a:ext cx="22128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Corridor risk-scoring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Audit-flag causes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road/weather inputs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510528" y="265176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⚠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10528" y="306324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Rare classes (recall &lt; 0.50)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 attribution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Novel post-2024 scenarios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Without annual retraining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Best params: max_depth=15, max_features=sqrt, n_estimators=200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 — All Models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914400"/>
                <a:gridCol w="1005840"/>
                <a:gridCol w="1005840"/>
                <a:gridCol w="109728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Overfit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Overfit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Selected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363931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Scores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absolute F1 scores (0.14–0.375) reflect the difficulty of the 11-class problem with imbalanced categories.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'UNABLE TO DETERMINE' (41% of rows) dominates the distribution and suppresses macro-averaged scores.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selected because it achieves the highest Test F1 (0.177) with the best train/test consistency.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 | Macro F1 = equal weight per class including rare ones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the Safety 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081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signal maintenance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condition = #1 feature. Malfunctioning signals directly linked to failure-to-yield crashes.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4081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Speed-limit review on arterials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limit = top-3 feature. Reducing limits on flagged 30–35 mph corridors is actionable.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41148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63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198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education 25–44 cohort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age in top 5. Workplace safety campaigns and refresher licensing are immediately deployable.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114800" cy="1828800"/>
          </a:xfrm>
          <a:prstGeom prst="rect">
            <a:avLst/>
          </a:prstGeom>
          <a:solidFill>
            <a:srgbClr val="1E356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17520"/>
            <a:ext cx="41148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4198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16:00–19:00 window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7947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Crash-hour spike at 17:00 across all days. Directed patrol during this window is cost-effective.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960120"/>
            <a:ext cx="2743200" cy="3931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" y="960120"/>
            <a:ext cx="27432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7840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" y="155448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'UNABLE TO DETERMINE' label — 41% of rows suppresses F1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Re-bin target excluding uninformative classes to improve scores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NLP features from crash narrative 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960120"/>
            <a:ext cx="2743200" cy="3931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73552" y="960120"/>
            <a:ext cx="27432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97840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0712" y="155448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REST API for corridor risk-scoring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analyst dashboard for Safety Board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model to predict injury severity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960120"/>
            <a:ext cx="2743200" cy="3931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960120"/>
            <a:ext cx="27432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97840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months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55448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model retraining pipeline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traffic-camera telemetry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insurance data providers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Mercy Mwangi | 1 May 2026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Traffic Crash Contributory Cause Classifier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Mwangi     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May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 | Test Macro F1 = 0.177 | Best params: max_depth=15, max_features=sqrt, n_estimators=200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data.cityofchicago.org | 149,704 rows | 11 classes | Metric: Macro F1 | Env: learn-env Python 3.8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Chicago Traffic Crash Cause Classifier</dc:title>
  <dc:subject>PptxGenJS Presentation</dc:subject>
  <dc:creator>Mercy Mwangi</dc:creator>
  <cp:lastModifiedBy>Mercy Mwangi</cp:lastModifiedBy>
  <cp:revision>1</cp:revision>
  <dcterms:created xsi:type="dcterms:W3CDTF">2026-05-02T11:21:42Z</dcterms:created>
  <dcterms:modified xsi:type="dcterms:W3CDTF">2026-05-02T11:21:42Z</dcterms:modified>
</cp:coreProperties>
</file>